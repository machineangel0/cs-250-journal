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08" y="10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Scrum-Agile Development for SNHU Travel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Eric Humbert</a:t>
            </a:r>
          </a:p>
          <a:p>
            <a:r>
              <a:rPr lang="en-US" dirty="0">
                <a:solidFill>
                  <a:schemeClr val="tx1"/>
                </a:solidFill>
              </a:rPr>
              <a:t>6/21/2026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Scrum-Agile Team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Autofit/>
          </a:bodyPr>
          <a:lstStyle/>
          <a:p>
            <a:r>
              <a:rPr sz="1600" b="1" dirty="0"/>
              <a:t>Product Owner: </a:t>
            </a:r>
            <a:endParaRPr lang="en-US" sz="1600" b="1" dirty="0"/>
          </a:p>
          <a:p>
            <a:pPr lvl="1"/>
            <a:r>
              <a:rPr lang="en-US" sz="1600" dirty="0"/>
              <a:t>Prioritizes the product backlog and represents stakeholders.</a:t>
            </a:r>
          </a:p>
          <a:p>
            <a:pPr lvl="1"/>
            <a:r>
              <a:rPr lang="en-US" sz="16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Manages product backlog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Ensures business value delivery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Communicates stakeholder needs</a:t>
            </a:r>
            <a:endParaRPr sz="1600" dirty="0"/>
          </a:p>
          <a:p>
            <a:r>
              <a:rPr sz="1600" b="1" dirty="0"/>
              <a:t>Scrum Master: </a:t>
            </a:r>
            <a:endParaRPr lang="en-US" sz="1600" b="1" dirty="0"/>
          </a:p>
          <a:p>
            <a:pPr lvl="1"/>
            <a:r>
              <a:rPr sz="1600" dirty="0"/>
              <a:t>Facilitates Scrum events</a:t>
            </a:r>
            <a:endParaRPr lang="en-US" sz="1600" dirty="0"/>
          </a:p>
          <a:p>
            <a:pPr lvl="1"/>
            <a:r>
              <a:rPr lang="en-US" sz="1600" dirty="0"/>
              <a:t>Removes team impediments</a:t>
            </a:r>
          </a:p>
          <a:p>
            <a:pPr lvl="1"/>
            <a:r>
              <a:rPr lang="en-US" sz="1600" dirty="0"/>
              <a:t>Coaches team on Agile practices</a:t>
            </a:r>
          </a:p>
          <a:p>
            <a:pPr lvl="1"/>
            <a:r>
              <a:rPr lang="en-US" sz="1600" dirty="0"/>
              <a:t>Protects team from distractions</a:t>
            </a:r>
          </a:p>
          <a:p>
            <a:pPr lvl="1"/>
            <a:r>
              <a:rPr lang="en-US" sz="1600" dirty="0"/>
              <a:t>Ensures process adherence</a:t>
            </a:r>
            <a:endParaRPr sz="1600" dirty="0"/>
          </a:p>
          <a:p>
            <a:r>
              <a:rPr sz="1600" b="1" dirty="0"/>
              <a:t>Development Team:</a:t>
            </a:r>
            <a:endParaRPr lang="en-US" sz="1600" b="1" dirty="0"/>
          </a:p>
          <a:p>
            <a:pPr lvl="1"/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working software</a:t>
            </a:r>
          </a:p>
          <a:p>
            <a:pPr lvl="1"/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Self-organizes work</a:t>
            </a:r>
          </a:p>
          <a:p>
            <a:pPr lvl="1"/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user stories</a:t>
            </a:r>
          </a:p>
          <a:p>
            <a:pPr lvl="1"/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Collaborates on solutions</a:t>
            </a:r>
          </a:p>
          <a:p>
            <a:pPr lvl="1"/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Ensures code quality</a:t>
            </a:r>
            <a:endParaRPr lang="en-US" sz="1600" dirty="0"/>
          </a:p>
          <a:p>
            <a:pPr lvl="1"/>
            <a:r>
              <a:rPr sz="1600" dirty="0"/>
              <a:t> Designs, develops, tests, and delivers increments.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SDLC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Planning and Requirements</a:t>
            </a:r>
          </a:p>
          <a:p>
            <a:r>
              <a:rPr dirty="0"/>
              <a:t>Design and Development</a:t>
            </a:r>
          </a:p>
          <a:p>
            <a:r>
              <a:rPr dirty="0"/>
              <a:t>Testing and Integration</a:t>
            </a:r>
          </a:p>
          <a:p>
            <a:r>
              <a:rPr dirty="0"/>
              <a:t>Deployment and Delivery</a:t>
            </a:r>
          </a:p>
          <a:p>
            <a:r>
              <a:rPr dirty="0"/>
              <a:t>Maintenance and Continuous Improvement</a:t>
            </a:r>
          </a:p>
          <a:p>
            <a:r>
              <a:rPr dirty="0"/>
              <a:t>These phases are repeated during each sprint.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Scrum Events and Organizational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Events</a:t>
            </a:r>
          </a:p>
          <a:p>
            <a:pPr lvl="1"/>
            <a:r>
              <a:rPr dirty="0"/>
              <a:t>Sprint Planning</a:t>
            </a:r>
          </a:p>
          <a:p>
            <a:pPr lvl="1"/>
            <a:r>
              <a:rPr dirty="0"/>
              <a:t>Daily Scrum</a:t>
            </a:r>
          </a:p>
          <a:p>
            <a:pPr lvl="1"/>
            <a:r>
              <a:rPr dirty="0"/>
              <a:t>Sprint Review</a:t>
            </a:r>
          </a:p>
          <a:p>
            <a:pPr lvl="1"/>
            <a:r>
              <a:rPr dirty="0"/>
              <a:t>Sprint Retrospective</a:t>
            </a:r>
          </a:p>
          <a:p>
            <a:r>
              <a:rPr dirty="0"/>
              <a:t>Tools:</a:t>
            </a:r>
          </a:p>
          <a:p>
            <a:pPr lvl="1"/>
            <a:r>
              <a:rPr dirty="0"/>
              <a:t>Product Backlog</a:t>
            </a:r>
            <a:endParaRPr lang="en-US" dirty="0"/>
          </a:p>
          <a:p>
            <a:pPr lvl="1"/>
            <a:r>
              <a:rPr dirty="0"/>
              <a:t>Sprint Backlog</a:t>
            </a:r>
            <a:endParaRPr lang="en-US" dirty="0"/>
          </a:p>
          <a:p>
            <a:pPr lvl="1"/>
            <a:r>
              <a:rPr dirty="0"/>
              <a:t>Task Boards</a:t>
            </a:r>
            <a:endParaRPr lang="en-US" dirty="0"/>
          </a:p>
          <a:p>
            <a:pPr lvl="1"/>
            <a:r>
              <a:rPr dirty="0"/>
              <a:t>Burndown Charts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Scrum-Agile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Flexibility and adaptability</a:t>
            </a:r>
          </a:p>
          <a:p>
            <a:r>
              <a:rPr dirty="0"/>
              <a:t>Frequent stakeholder feedback</a:t>
            </a:r>
          </a:p>
          <a:p>
            <a:r>
              <a:rPr dirty="0"/>
              <a:t>Incremental delivery of features</a:t>
            </a:r>
          </a:p>
          <a:p>
            <a:r>
              <a:rPr dirty="0"/>
              <a:t>Improved communication and collaboration</a:t>
            </a:r>
          </a:p>
          <a:p>
            <a:r>
              <a:rPr dirty="0"/>
              <a:t>Faster response to changing requirements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Waterfall vs. 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Waterfall:</a:t>
            </a:r>
          </a:p>
          <a:p>
            <a:pPr lvl="1"/>
            <a:r>
              <a:rPr dirty="0"/>
              <a:t>Sequential phases</a:t>
            </a:r>
          </a:p>
          <a:p>
            <a:pPr lvl="1"/>
            <a:r>
              <a:rPr dirty="0"/>
              <a:t>Changes are costly</a:t>
            </a:r>
          </a:p>
          <a:p>
            <a:pPr lvl="1"/>
            <a:r>
              <a:rPr dirty="0"/>
              <a:t>Extensive documentation</a:t>
            </a:r>
          </a:p>
          <a:p>
            <a:endParaRPr dirty="0"/>
          </a:p>
          <a:p>
            <a:r>
              <a:rPr dirty="0"/>
              <a:t>Agile:</a:t>
            </a:r>
          </a:p>
          <a:p>
            <a:pPr lvl="1"/>
            <a:r>
              <a:rPr dirty="0"/>
              <a:t>Iterative development</a:t>
            </a:r>
          </a:p>
          <a:p>
            <a:pPr lvl="1"/>
            <a:r>
              <a:rPr dirty="0"/>
              <a:t>Frequent feedback</a:t>
            </a:r>
          </a:p>
          <a:p>
            <a:pPr lvl="1"/>
            <a:r>
              <a:rPr dirty="0"/>
              <a:t>Continuous improvement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Choosing Between Waterfall and 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Consider:</a:t>
            </a:r>
          </a:p>
          <a:p>
            <a:pPr lvl="1"/>
            <a:r>
              <a:rPr dirty="0"/>
              <a:t>Requirement stability</a:t>
            </a:r>
          </a:p>
          <a:p>
            <a:pPr lvl="1"/>
            <a:r>
              <a:rPr dirty="0"/>
              <a:t>Customer involvement</a:t>
            </a:r>
          </a:p>
          <a:p>
            <a:pPr lvl="1"/>
            <a:r>
              <a:rPr dirty="0"/>
              <a:t>Project complexity</a:t>
            </a:r>
          </a:p>
          <a:p>
            <a:pPr lvl="1"/>
            <a:r>
              <a:rPr dirty="0"/>
              <a:t>Risk level</a:t>
            </a:r>
          </a:p>
          <a:p>
            <a:pPr lvl="1"/>
            <a:r>
              <a:rPr dirty="0"/>
              <a:t>Need for flexibility</a:t>
            </a:r>
          </a:p>
          <a:p>
            <a:r>
              <a:rPr dirty="0"/>
              <a:t>For the SNHU Travel project, Scrum-Agile provided the best fit.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Lessons Learned from the SNHU Travel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Small iterations improved productivity.</a:t>
            </a:r>
          </a:p>
          <a:p>
            <a:r>
              <a:rPr dirty="0"/>
              <a:t>Team communication increased transparency.</a:t>
            </a:r>
          </a:p>
          <a:p>
            <a:r>
              <a:rPr dirty="0"/>
              <a:t>Continuous feedback reduced risks.</a:t>
            </a:r>
          </a:p>
          <a:p>
            <a:r>
              <a:rPr dirty="0"/>
              <a:t>Retrospectives enabled process improvements.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Atlassian. (2025). Agile Project Management.</a:t>
            </a:r>
          </a:p>
          <a:p>
            <a:endParaRPr dirty="0"/>
          </a:p>
          <a:p>
            <a:r>
              <a:rPr dirty="0"/>
              <a:t>IBM. (2024). Software Development Life Cycle.</a:t>
            </a:r>
          </a:p>
          <a:p>
            <a:endParaRPr dirty="0"/>
          </a:p>
          <a:p>
            <a:r>
              <a:rPr dirty="0"/>
              <a:t>Microsoft. (2024). DevOps and Agile Practices.</a:t>
            </a:r>
          </a:p>
          <a:p>
            <a:endParaRPr dirty="0"/>
          </a:p>
          <a:p>
            <a:r>
              <a:rPr dirty="0"/>
              <a:t>Schwaber, K., &amp; Sutherland, J. (2020). The Scrum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279</Words>
  <Application>Microsoft Office PowerPoint</Application>
  <PresentationFormat>On-screen Show (4:3)</PresentationFormat>
  <Paragraphs>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Scrum-Agile Development for SNHU Travel</vt:lpstr>
      <vt:lpstr>Scrum-Agile Team Roles</vt:lpstr>
      <vt:lpstr>Agile SDLC Phases</vt:lpstr>
      <vt:lpstr>Scrum Events and Organizational Tools</vt:lpstr>
      <vt:lpstr>Benefits of Scrum-Agile</vt:lpstr>
      <vt:lpstr>Waterfall vs. Agile</vt:lpstr>
      <vt:lpstr>Choosing Between Waterfall and Agile</vt:lpstr>
      <vt:lpstr>Lessons Learned from the SNHU Travel Project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Eric Adams Humbert</cp:lastModifiedBy>
  <cp:revision>2</cp:revision>
  <dcterms:created xsi:type="dcterms:W3CDTF">2013-01-27T09:14:16Z</dcterms:created>
  <dcterms:modified xsi:type="dcterms:W3CDTF">2026-06-22T04:49:18Z</dcterms:modified>
  <cp:category/>
</cp:coreProperties>
</file>